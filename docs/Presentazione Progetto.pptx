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33" r:id="rId1"/>
  </p:sldMasterIdLst>
  <p:sldIdLst>
    <p:sldId id="268" r:id="rId2"/>
    <p:sldId id="257" r:id="rId3"/>
    <p:sldId id="258" r:id="rId4"/>
    <p:sldId id="259" r:id="rId5"/>
    <p:sldId id="260" r:id="rId6"/>
    <p:sldId id="261" r:id="rId7"/>
    <p:sldId id="269"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C1BE"/>
    <a:srgbClr val="D7D0BE"/>
    <a:srgbClr val="FFFFFF"/>
    <a:srgbClr val="0E577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66" d="100"/>
        <a:sy n="66"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titolo">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FB9ACA14-65EF-424C-9995-AAB19C3774AC}" type="datetimeFigureOut">
              <a:rPr lang="it-IT" smtClean="0"/>
              <a:t>24/02/2025</a:t>
            </a:fld>
            <a:endParaRPr lang="it-IT"/>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it-IT"/>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D063711C-AB5B-4A90-93B3-094BDB1759DA}" type="slidenum">
              <a:rPr lang="it-IT" smtClean="0"/>
              <a:t>‹N›</a:t>
            </a:fld>
            <a:endParaRPr lang="it-IT"/>
          </a:p>
        </p:txBody>
      </p:sp>
    </p:spTree>
    <p:extLst>
      <p:ext uri="{BB962C8B-B14F-4D97-AF65-F5344CB8AC3E}">
        <p14:creationId xmlns:p14="http://schemas.microsoft.com/office/powerpoint/2010/main" val="261756448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FB9ACA14-65EF-424C-9995-AAB19C3774AC}" type="datetimeFigureOut">
              <a:rPr lang="it-IT" smtClean="0"/>
              <a:t>24/02/2025</a:t>
            </a:fld>
            <a:endParaRPr lang="it-IT"/>
          </a:p>
        </p:txBody>
      </p:sp>
      <p:sp>
        <p:nvSpPr>
          <p:cNvPr id="8" name="Footer Placeholder 7"/>
          <p:cNvSpPr>
            <a:spLocks noGrp="1"/>
          </p:cNvSpPr>
          <p:nvPr>
            <p:ph type="ftr" sz="quarter" idx="11"/>
          </p:nvPr>
        </p:nvSpPr>
        <p:spPr/>
        <p:txBody>
          <a:bodyPr/>
          <a:lstStyle/>
          <a:p>
            <a:endParaRPr lang="it-IT"/>
          </a:p>
        </p:txBody>
      </p:sp>
      <p:sp>
        <p:nvSpPr>
          <p:cNvPr id="9" name="Slide Number Placeholder 8"/>
          <p:cNvSpPr>
            <a:spLocks noGrp="1"/>
          </p:cNvSpPr>
          <p:nvPr>
            <p:ph type="sldNum" sz="quarter" idx="12"/>
          </p:nvPr>
        </p:nvSpPr>
        <p:spPr/>
        <p:txBody>
          <a:bodyPr/>
          <a:lstStyle/>
          <a:p>
            <a:fld id="{D063711C-AB5B-4A90-93B3-094BDB1759DA}" type="slidenum">
              <a:rPr lang="it-IT" smtClean="0"/>
              <a:t>‹N›</a:t>
            </a:fld>
            <a:endParaRPr lang="it-IT"/>
          </a:p>
        </p:txBody>
      </p:sp>
    </p:spTree>
    <p:extLst>
      <p:ext uri="{BB962C8B-B14F-4D97-AF65-F5344CB8AC3E}">
        <p14:creationId xmlns:p14="http://schemas.microsoft.com/office/powerpoint/2010/main" val="12271606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Intestazione sezione">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FB9ACA14-65EF-424C-9995-AAB19C3774AC}" type="datetimeFigureOut">
              <a:rPr lang="it-IT" smtClean="0"/>
              <a:t>24/02/2025</a:t>
            </a:fld>
            <a:endParaRPr lang="it-IT"/>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it-IT"/>
          </a:p>
        </p:txBody>
      </p:sp>
      <p:sp>
        <p:nvSpPr>
          <p:cNvPr id="6" name="Slide Number Placeholder 5"/>
          <p:cNvSpPr>
            <a:spLocks noGrp="1"/>
          </p:cNvSpPr>
          <p:nvPr>
            <p:ph type="sldNum" sz="quarter" idx="12"/>
          </p:nvPr>
        </p:nvSpPr>
        <p:spPr>
          <a:xfrm>
            <a:off x="8604504" y="5211060"/>
            <a:ext cx="2112264" cy="228600"/>
          </a:xfrm>
        </p:spPr>
        <p:txBody>
          <a:bodyPr/>
          <a:lstStyle/>
          <a:p>
            <a:fld id="{D063711C-AB5B-4A90-93B3-094BDB1759DA}" type="slidenum">
              <a:rPr lang="it-IT" smtClean="0"/>
              <a:t>‹N›</a:t>
            </a:fld>
            <a:endParaRPr lang="it-IT"/>
          </a:p>
        </p:txBody>
      </p:sp>
    </p:spTree>
    <p:extLst>
      <p:ext uri="{BB962C8B-B14F-4D97-AF65-F5344CB8AC3E}">
        <p14:creationId xmlns:p14="http://schemas.microsoft.com/office/powerpoint/2010/main" val="140315200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FB9ACA14-65EF-424C-9995-AAB19C3774AC}" type="datetimeFigureOut">
              <a:rPr lang="it-IT" smtClean="0"/>
              <a:t>24/02/2025</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D063711C-AB5B-4A90-93B3-094BDB1759DA}" type="slidenum">
              <a:rPr lang="it-IT" smtClean="0"/>
              <a:t>‹N›</a:t>
            </a:fld>
            <a:endParaRPr lang="it-IT"/>
          </a:p>
        </p:txBody>
      </p:sp>
    </p:spTree>
    <p:extLst>
      <p:ext uri="{BB962C8B-B14F-4D97-AF65-F5344CB8AC3E}">
        <p14:creationId xmlns:p14="http://schemas.microsoft.com/office/powerpoint/2010/main" val="12874711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FB9ACA14-65EF-424C-9995-AAB19C3774AC}" type="datetimeFigureOut">
              <a:rPr lang="it-IT" smtClean="0"/>
              <a:t>24/02/2025</a:t>
            </a:fld>
            <a:endParaRPr lang="it-IT"/>
          </a:p>
        </p:txBody>
      </p:sp>
      <p:sp>
        <p:nvSpPr>
          <p:cNvPr id="8" name="Footer Placeholder 7"/>
          <p:cNvSpPr>
            <a:spLocks noGrp="1"/>
          </p:cNvSpPr>
          <p:nvPr>
            <p:ph type="ftr" sz="quarter" idx="11"/>
          </p:nvPr>
        </p:nvSpPr>
        <p:spPr/>
        <p:txBody>
          <a:bodyPr/>
          <a:lstStyle/>
          <a:p>
            <a:endParaRPr lang="it-IT"/>
          </a:p>
        </p:txBody>
      </p:sp>
      <p:sp>
        <p:nvSpPr>
          <p:cNvPr id="9" name="Slide Number Placeholder 8"/>
          <p:cNvSpPr>
            <a:spLocks noGrp="1"/>
          </p:cNvSpPr>
          <p:nvPr>
            <p:ph type="sldNum" sz="quarter" idx="12"/>
          </p:nvPr>
        </p:nvSpPr>
        <p:spPr/>
        <p:txBody>
          <a:bodyPr/>
          <a:lstStyle/>
          <a:p>
            <a:fld id="{D063711C-AB5B-4A90-93B3-094BDB1759DA}" type="slidenum">
              <a:rPr lang="it-IT" smtClean="0"/>
              <a:t>‹N›</a:t>
            </a:fld>
            <a:endParaRPr lang="it-IT"/>
          </a:p>
        </p:txBody>
      </p:sp>
    </p:spTree>
    <p:extLst>
      <p:ext uri="{BB962C8B-B14F-4D97-AF65-F5344CB8AC3E}">
        <p14:creationId xmlns:p14="http://schemas.microsoft.com/office/powerpoint/2010/main" val="1115603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Date Placeholder 2"/>
          <p:cNvSpPr>
            <a:spLocks noGrp="1"/>
          </p:cNvSpPr>
          <p:nvPr>
            <p:ph type="dt" sz="half" idx="10"/>
          </p:nvPr>
        </p:nvSpPr>
        <p:spPr/>
        <p:txBody>
          <a:bodyPr/>
          <a:lstStyle/>
          <a:p>
            <a:fld id="{FB9ACA14-65EF-424C-9995-AAB19C3774AC}" type="datetimeFigureOut">
              <a:rPr lang="it-IT" smtClean="0"/>
              <a:t>24/02/2025</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D063711C-AB5B-4A90-93B3-094BDB1759DA}" type="slidenum">
              <a:rPr lang="it-IT" smtClean="0"/>
              <a:t>‹N›</a:t>
            </a:fld>
            <a:endParaRPr lang="it-IT"/>
          </a:p>
        </p:txBody>
      </p:sp>
    </p:spTree>
    <p:extLst>
      <p:ext uri="{BB962C8B-B14F-4D97-AF65-F5344CB8AC3E}">
        <p14:creationId xmlns:p14="http://schemas.microsoft.com/office/powerpoint/2010/main" val="3183666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9ACA14-65EF-424C-9995-AAB19C3774AC}" type="datetimeFigureOut">
              <a:rPr lang="it-IT" smtClean="0"/>
              <a:t>24/02/2025</a:t>
            </a:fld>
            <a:endParaRPr lang="it-IT"/>
          </a:p>
        </p:txBody>
      </p:sp>
      <p:sp>
        <p:nvSpPr>
          <p:cNvPr id="3" name="Footer Placeholder 2"/>
          <p:cNvSpPr>
            <a:spLocks noGrp="1"/>
          </p:cNvSpPr>
          <p:nvPr>
            <p:ph type="ftr" sz="quarter" idx="11"/>
          </p:nvPr>
        </p:nvSpPr>
        <p:spPr/>
        <p:txBody>
          <a:bodyPr/>
          <a:lstStyle/>
          <a:p>
            <a:endParaRPr lang="it-IT"/>
          </a:p>
        </p:txBody>
      </p:sp>
      <p:sp>
        <p:nvSpPr>
          <p:cNvPr id="4" name="Slide Number Placeholder 3"/>
          <p:cNvSpPr>
            <a:spLocks noGrp="1"/>
          </p:cNvSpPr>
          <p:nvPr>
            <p:ph type="sldNum" sz="quarter" idx="12"/>
          </p:nvPr>
        </p:nvSpPr>
        <p:spPr/>
        <p:txBody>
          <a:bodyPr/>
          <a:lstStyle/>
          <a:p>
            <a:fld id="{D063711C-AB5B-4A90-93B3-094BDB1759DA}" type="slidenum">
              <a:rPr lang="it-IT" smtClean="0"/>
              <a:t>‹N›</a:t>
            </a:fld>
            <a:endParaRPr lang="it-IT"/>
          </a:p>
        </p:txBody>
      </p:sp>
    </p:spTree>
    <p:extLst>
      <p:ext uri="{BB962C8B-B14F-4D97-AF65-F5344CB8AC3E}">
        <p14:creationId xmlns:p14="http://schemas.microsoft.com/office/powerpoint/2010/main" val="42163517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to con didascalia">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it-IT"/>
              <a:t>Fare clic per modificare lo stile del titolo dello schema</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8" name="Date Placeholder 7"/>
          <p:cNvSpPr>
            <a:spLocks noGrp="1"/>
          </p:cNvSpPr>
          <p:nvPr>
            <p:ph type="dt" sz="half" idx="10"/>
          </p:nvPr>
        </p:nvSpPr>
        <p:spPr/>
        <p:txBody>
          <a:bodyPr/>
          <a:lstStyle/>
          <a:p>
            <a:fld id="{FB9ACA14-65EF-424C-9995-AAB19C3774AC}" type="datetimeFigureOut">
              <a:rPr lang="it-IT" smtClean="0"/>
              <a:t>24/02/2025</a:t>
            </a:fld>
            <a:endParaRPr lang="it-IT"/>
          </a:p>
        </p:txBody>
      </p:sp>
      <p:sp>
        <p:nvSpPr>
          <p:cNvPr id="9" name="Footer Placeholder 8"/>
          <p:cNvSpPr>
            <a:spLocks noGrp="1"/>
          </p:cNvSpPr>
          <p:nvPr>
            <p:ph type="ftr" sz="quarter" idx="11"/>
          </p:nvPr>
        </p:nvSpPr>
        <p:spPr/>
        <p:txBody>
          <a:bodyPr/>
          <a:lstStyle>
            <a:lvl1pPr algn="r">
              <a:defRPr/>
            </a:lvl1pPr>
          </a:lstStyle>
          <a:p>
            <a:endParaRPr lang="it-IT"/>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D063711C-AB5B-4A90-93B3-094BDB1759DA}" type="slidenum">
              <a:rPr lang="it-IT" smtClean="0"/>
              <a:t>‹N›</a:t>
            </a:fld>
            <a:endParaRPr lang="it-IT"/>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787222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magine con didascalia">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a:t>Fare clic sull'icona per inserire un'immagine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FB9ACA14-65EF-424C-9995-AAB19C3774AC}" type="datetimeFigureOut">
              <a:rPr lang="it-IT" smtClean="0"/>
              <a:t>24/02/2025</a:t>
            </a:fld>
            <a:endParaRPr lang="it-IT"/>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D063711C-AB5B-4A90-93B3-094BDB1759DA}" type="slidenum">
              <a:rPr lang="it-IT" smtClean="0"/>
              <a:t>‹N›</a:t>
            </a:fld>
            <a:endParaRPr lang="it-IT"/>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714839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FB9ACA14-65EF-424C-9995-AAB19C3774AC}" type="datetimeFigureOut">
              <a:rPr lang="it-IT" smtClean="0"/>
              <a:t>24/02/2025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D063711C-AB5B-4A90-93B3-094BDB1759DA}" type="slidenum">
              <a:rPr lang="it-IT" smtClean="0"/>
              <a:t>‹N›</a:t>
            </a:fld>
            <a:endParaRPr lang="it-IT"/>
          </a:p>
        </p:txBody>
      </p:sp>
    </p:spTree>
    <p:extLst>
      <p:ext uri="{BB962C8B-B14F-4D97-AF65-F5344CB8AC3E}">
        <p14:creationId xmlns:p14="http://schemas.microsoft.com/office/powerpoint/2010/main" val="516559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FB9ACA14-65EF-424C-9995-AAB19C3774AC}" type="datetimeFigureOut">
              <a:rPr lang="it-IT" smtClean="0"/>
              <a:t>24/02/2025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D063711C-AB5B-4A90-93B3-094BDB1759DA}" type="slidenum">
              <a:rPr lang="it-IT" smtClean="0"/>
              <a:t>‹N›</a:t>
            </a:fld>
            <a:endParaRPr lang="it-IT"/>
          </a:p>
        </p:txBody>
      </p:sp>
    </p:spTree>
    <p:extLst>
      <p:ext uri="{BB962C8B-B14F-4D97-AF65-F5344CB8AC3E}">
        <p14:creationId xmlns:p14="http://schemas.microsoft.com/office/powerpoint/2010/main" val="2411702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FB9ACA14-65EF-424C-9995-AAB19C3774AC}" type="datetimeFigureOut">
              <a:rPr lang="it-IT" smtClean="0"/>
              <a:t>24/02/2025</a:t>
            </a:fld>
            <a:endParaRPr lang="it-IT"/>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it-IT"/>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D063711C-AB5B-4A90-93B3-094BDB1759DA}" type="slidenum">
              <a:rPr lang="it-IT" smtClean="0"/>
              <a:t>‹N›</a:t>
            </a:fld>
            <a:endParaRPr lang="it-IT"/>
          </a:p>
        </p:txBody>
      </p:sp>
    </p:spTree>
    <p:extLst>
      <p:ext uri="{BB962C8B-B14F-4D97-AF65-F5344CB8AC3E}">
        <p14:creationId xmlns:p14="http://schemas.microsoft.com/office/powerpoint/2010/main" val="2522198907"/>
      </p:ext>
    </p:extLst>
  </p:cSld>
  <p:clrMap bg1="lt1" tx1="dk1" bg2="lt2" tx2="dk2" accent1="accent1" accent2="accent2" accent3="accent3" accent4="accent4" accent5="accent5" accent6="accent6" hlink="hlink" folHlink="folHlink"/>
  <p:sldLayoutIdLst>
    <p:sldLayoutId id="2147484234" r:id="rId1"/>
    <p:sldLayoutId id="2147484235" r:id="rId2"/>
    <p:sldLayoutId id="2147484236" r:id="rId3"/>
    <p:sldLayoutId id="2147484237" r:id="rId4"/>
    <p:sldLayoutId id="2147484238" r:id="rId5"/>
    <p:sldLayoutId id="2147484239" r:id="rId6"/>
    <p:sldLayoutId id="2147484240" r:id="rId7"/>
    <p:sldLayoutId id="2147484241" r:id="rId8"/>
    <p:sldLayoutId id="2147484242" r:id="rId9"/>
    <p:sldLayoutId id="2147484243" r:id="rId10"/>
    <p:sldLayoutId id="2147484244"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shade val="92000"/>
                <a:satMod val="160000"/>
              </a:schemeClr>
            </a:gs>
            <a:gs pos="77000">
              <a:schemeClr val="bg1">
                <a:tint val="100000"/>
                <a:shade val="73000"/>
                <a:satMod val="155000"/>
              </a:schemeClr>
            </a:gs>
            <a:gs pos="100000">
              <a:schemeClr val="bg1">
                <a:tint val="100000"/>
                <a:shade val="67000"/>
                <a:satMod val="145000"/>
              </a:schemeClr>
            </a:gs>
          </a:gsLst>
          <a:lin ang="5400000" scaled="0"/>
        </a:gra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645BD8A-B13F-463A-9101-4FB883F064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AA55ABF-213F-4B65-8B7E-1ED8609F20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4400" y="945072"/>
            <a:ext cx="10339129" cy="4055144"/>
          </a:xfrm>
          <a:prstGeom prst="rect">
            <a:avLst/>
          </a:prstGeom>
          <a:solidFill>
            <a:schemeClr val="accent1"/>
          </a:solidFill>
          <a:ln w="6350" cap="flat" cmpd="sng" algn="ctr">
            <a:noFill/>
            <a:prstDash val="solid"/>
          </a:ln>
          <a:effectLst>
            <a:outerShdw blurRad="50800" algn="ctr" rotWithShape="0">
              <a:prstClr val="black">
                <a:alpha val="66000"/>
              </a:prstClr>
            </a:outerShdw>
            <a:softEdge rad="0"/>
          </a:effectLst>
        </p:spPr>
        <p:txBody>
          <a:bodyPr/>
          <a:lstStyle/>
          <a:p>
            <a:endParaRPr lang="it-IT"/>
          </a:p>
        </p:txBody>
      </p:sp>
      <p:sp>
        <p:nvSpPr>
          <p:cNvPr id="11" name="Rectangle 10">
            <a:extLst>
              <a:ext uri="{FF2B5EF4-FFF2-40B4-BE49-F238E27FC236}">
                <a16:creationId xmlns:a16="http://schemas.microsoft.com/office/drawing/2014/main" id="{F8DB4189-B5C4-45EA-AFC5-6739032B85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7624" y="1107268"/>
            <a:ext cx="10012680" cy="3730752"/>
          </a:xfrm>
          <a:prstGeom prst="rect">
            <a:avLst/>
          </a:prstGeom>
          <a:noFill/>
          <a:ln w="6350" cap="sq" cmpd="sng" algn="ctr">
            <a:solidFill>
              <a:srgbClr val="FFFFFF"/>
            </a:solidFill>
            <a:prstDash val="solid"/>
            <a:miter lim="800000"/>
          </a:ln>
          <a:effectLst/>
        </p:spPr>
        <p:txBody>
          <a:bodyPr/>
          <a:lstStyle/>
          <a:p>
            <a:endParaRPr lang="it-IT"/>
          </a:p>
        </p:txBody>
      </p:sp>
      <p:sp>
        <p:nvSpPr>
          <p:cNvPr id="2" name="Titolo 1">
            <a:extLst>
              <a:ext uri="{FF2B5EF4-FFF2-40B4-BE49-F238E27FC236}">
                <a16:creationId xmlns:a16="http://schemas.microsoft.com/office/drawing/2014/main" id="{1F82641D-AD79-D988-09E0-323B793F1363}"/>
              </a:ext>
            </a:extLst>
          </p:cNvPr>
          <p:cNvSpPr>
            <a:spLocks noGrp="1"/>
          </p:cNvSpPr>
          <p:nvPr>
            <p:ph type="ctrTitle"/>
          </p:nvPr>
        </p:nvSpPr>
        <p:spPr>
          <a:xfrm>
            <a:off x="3274436" y="1552714"/>
            <a:ext cx="5619055" cy="2133414"/>
          </a:xfrm>
        </p:spPr>
        <p:txBody>
          <a:bodyPr>
            <a:normAutofit/>
          </a:bodyPr>
          <a:lstStyle/>
          <a:p>
            <a:r>
              <a:rPr lang="it-IT" dirty="0">
                <a:solidFill>
                  <a:srgbClr val="FFFFFF"/>
                </a:solidFill>
              </a:rPr>
              <a:t>PROGETTO </a:t>
            </a:r>
            <a:br>
              <a:rPr lang="it-IT" dirty="0">
                <a:solidFill>
                  <a:srgbClr val="FFFFFF"/>
                </a:solidFill>
              </a:rPr>
            </a:br>
            <a:r>
              <a:rPr lang="it-IT" dirty="0">
                <a:solidFill>
                  <a:srgbClr val="FFFFFF"/>
                </a:solidFill>
              </a:rPr>
              <a:t>BASI DI DATI</a:t>
            </a:r>
          </a:p>
        </p:txBody>
      </p:sp>
      <p:sp>
        <p:nvSpPr>
          <p:cNvPr id="3" name="CasellaDiTesto 2">
            <a:extLst>
              <a:ext uri="{FF2B5EF4-FFF2-40B4-BE49-F238E27FC236}">
                <a16:creationId xmlns:a16="http://schemas.microsoft.com/office/drawing/2014/main" id="{437AAEDA-8024-11B0-251B-2EDF4774F106}"/>
              </a:ext>
            </a:extLst>
          </p:cNvPr>
          <p:cNvSpPr txBox="1"/>
          <p:nvPr/>
        </p:nvSpPr>
        <p:spPr>
          <a:xfrm>
            <a:off x="2774417" y="3848324"/>
            <a:ext cx="6643165" cy="523220"/>
          </a:xfrm>
          <a:prstGeom prst="rect">
            <a:avLst/>
          </a:prstGeom>
          <a:noFill/>
        </p:spPr>
        <p:txBody>
          <a:bodyPr wrap="none" rtlCol="0">
            <a:spAutoFit/>
          </a:bodyPr>
          <a:lstStyle/>
          <a:p>
            <a:r>
              <a:rPr lang="it-IT" sz="2800" dirty="0">
                <a:solidFill>
                  <a:schemeClr val="bg1"/>
                </a:solidFill>
              </a:rPr>
              <a:t>Sistema di gestione di un Hotel online</a:t>
            </a:r>
          </a:p>
        </p:txBody>
      </p:sp>
      <p:sp>
        <p:nvSpPr>
          <p:cNvPr id="4" name="CasellaDiTesto 3">
            <a:extLst>
              <a:ext uri="{FF2B5EF4-FFF2-40B4-BE49-F238E27FC236}">
                <a16:creationId xmlns:a16="http://schemas.microsoft.com/office/drawing/2014/main" id="{7103300B-E386-9524-B68E-D234E22699C4}"/>
              </a:ext>
            </a:extLst>
          </p:cNvPr>
          <p:cNvSpPr txBox="1"/>
          <p:nvPr/>
        </p:nvSpPr>
        <p:spPr>
          <a:xfrm>
            <a:off x="9907238" y="5880203"/>
            <a:ext cx="1894184" cy="646331"/>
          </a:xfrm>
          <a:prstGeom prst="rect">
            <a:avLst/>
          </a:prstGeom>
          <a:noFill/>
        </p:spPr>
        <p:txBody>
          <a:bodyPr wrap="square" rtlCol="0">
            <a:spAutoFit/>
          </a:bodyPr>
          <a:lstStyle/>
          <a:p>
            <a:pPr algn="ctr"/>
            <a:r>
              <a:rPr lang="it-IT" b="1" dirty="0">
                <a:latin typeface="Bell MT" panose="02020503060305020303" pitchFamily="18" charset="0"/>
              </a:rPr>
              <a:t>Realizzato da Mario Branca</a:t>
            </a:r>
          </a:p>
        </p:txBody>
      </p:sp>
    </p:spTree>
    <p:extLst>
      <p:ext uri="{BB962C8B-B14F-4D97-AF65-F5344CB8AC3E}">
        <p14:creationId xmlns:p14="http://schemas.microsoft.com/office/powerpoint/2010/main" val="1352893647"/>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8F7ABB1-5498-C3A3-812F-FE84E5C58632}"/>
              </a:ext>
            </a:extLst>
          </p:cNvPr>
          <p:cNvSpPr>
            <a:spLocks noGrp="1"/>
          </p:cNvSpPr>
          <p:nvPr>
            <p:ph type="title"/>
          </p:nvPr>
        </p:nvSpPr>
        <p:spPr>
          <a:xfrm>
            <a:off x="590416" y="2651386"/>
            <a:ext cx="3473851" cy="1555225"/>
          </a:xfrm>
          <a:effectLst/>
        </p:spPr>
        <p:txBody>
          <a:bodyPr anchor="ctr">
            <a:normAutofit/>
          </a:bodyPr>
          <a:lstStyle/>
          <a:p>
            <a:pPr algn="ctr"/>
            <a:r>
              <a:rPr lang="it-IT" sz="4000" dirty="0">
                <a:solidFill>
                  <a:schemeClr val="tx1">
                    <a:lumMod val="95000"/>
                  </a:schemeClr>
                </a:solidFill>
              </a:rPr>
              <a:t>Cosa si vuole realizzare?</a:t>
            </a:r>
          </a:p>
        </p:txBody>
      </p:sp>
      <p:sp>
        <p:nvSpPr>
          <p:cNvPr id="3" name="Segnaposto contenuto 2">
            <a:extLst>
              <a:ext uri="{FF2B5EF4-FFF2-40B4-BE49-F238E27FC236}">
                <a16:creationId xmlns:a16="http://schemas.microsoft.com/office/drawing/2014/main" id="{8C562B6A-49B6-585B-6E21-85078A1E0B1A}"/>
              </a:ext>
            </a:extLst>
          </p:cNvPr>
          <p:cNvSpPr>
            <a:spLocks noGrp="1"/>
          </p:cNvSpPr>
          <p:nvPr>
            <p:ph idx="1"/>
          </p:nvPr>
        </p:nvSpPr>
        <p:spPr>
          <a:xfrm>
            <a:off x="4754882" y="999945"/>
            <a:ext cx="6720838" cy="5017352"/>
          </a:xfrm>
        </p:spPr>
        <p:txBody>
          <a:bodyPr anchor="ctr">
            <a:normAutofit fontScale="25000" lnSpcReduction="20000"/>
          </a:bodyPr>
          <a:lstStyle/>
          <a:p>
            <a:pPr marL="0" indent="0" algn="just">
              <a:lnSpc>
                <a:spcPct val="115000"/>
              </a:lnSpc>
              <a:spcBef>
                <a:spcPts val="0"/>
              </a:spcBef>
              <a:buNone/>
            </a:pPr>
            <a:r>
              <a:rPr lang="it-IT" sz="5600" kern="100" dirty="0">
                <a:effectLst/>
                <a:latin typeface="Aptos" panose="020B0004020202020204" pitchFamily="34" charset="0"/>
                <a:ea typeface="Aptos" panose="020B0004020202020204" pitchFamily="34" charset="0"/>
                <a:cs typeface="Times New Roman" panose="02020603050405020304" pitchFamily="18" charset="0"/>
              </a:rPr>
              <a:t>Si vuole realizzare un sistema per la gestione online di un hotel e dei suoi clienti. Ogni Cliente</a:t>
            </a:r>
            <a:r>
              <a:rPr lang="it-IT" sz="5600" kern="100" dirty="0">
                <a:latin typeface="Aptos" panose="020B0004020202020204" pitchFamily="34" charset="0"/>
                <a:ea typeface="Aptos" panose="020B0004020202020204" pitchFamily="34" charset="0"/>
                <a:cs typeface="Times New Roman" panose="02020603050405020304" pitchFamily="18" charset="0"/>
              </a:rPr>
              <a:t>, </a:t>
            </a:r>
            <a:r>
              <a:rPr lang="it-IT" sz="5600" kern="100" dirty="0">
                <a:effectLst/>
                <a:latin typeface="Aptos" panose="020B0004020202020204" pitchFamily="34" charset="0"/>
                <a:ea typeface="Aptos" panose="020B0004020202020204" pitchFamily="34" charset="0"/>
                <a:cs typeface="Times New Roman" panose="02020603050405020304" pitchFamily="18" charset="0"/>
              </a:rPr>
              <a:t>identificato dal proprio CF, memorizza i propri dati anagrafici (nome, cognome, data di nascita) e </a:t>
            </a:r>
            <a:r>
              <a:rPr lang="it-IT" sz="5600" kern="100" dirty="0">
                <a:latin typeface="Aptos" panose="020B0004020202020204" pitchFamily="34" charset="0"/>
                <a:ea typeface="Aptos" panose="020B0004020202020204" pitchFamily="34" charset="0"/>
                <a:cs typeface="Times New Roman" panose="02020603050405020304" pitchFamily="18" charset="0"/>
              </a:rPr>
              <a:t>l’</a:t>
            </a:r>
            <a:r>
              <a:rPr lang="it-IT" sz="5600" kern="100" dirty="0">
                <a:effectLst/>
                <a:latin typeface="Aptos" panose="020B0004020202020204" pitchFamily="34" charset="0"/>
                <a:ea typeface="Aptos" panose="020B0004020202020204" pitchFamily="34" charset="0"/>
                <a:cs typeface="Times New Roman" panose="02020603050405020304" pitchFamily="18" charset="0"/>
              </a:rPr>
              <a:t> indirizzo completo (città, provincia, via, numero civico e CAP), oltre a uno o più recapiti telefonici. </a:t>
            </a:r>
          </a:p>
          <a:p>
            <a:pPr marL="0" indent="0" algn="just">
              <a:lnSpc>
                <a:spcPct val="115000"/>
              </a:lnSpc>
              <a:spcBef>
                <a:spcPts val="0"/>
              </a:spcBef>
              <a:buNone/>
            </a:pPr>
            <a:r>
              <a:rPr lang="it-IT" sz="5600" kern="100" dirty="0">
                <a:effectLst/>
                <a:latin typeface="Aptos" panose="020B0004020202020204" pitchFamily="34" charset="0"/>
                <a:ea typeface="Aptos" panose="020B0004020202020204" pitchFamily="34" charset="0"/>
                <a:cs typeface="Times New Roman" panose="02020603050405020304" pitchFamily="18" charset="0"/>
              </a:rPr>
              <a:t>Un cliente può effettuare zero o più prenotazioni, ognuna contraddistinta da un ID e caratterizzata dalla data della prenotazione, dallo stato, dal metodo di pagamento, dal numero di notti e dall’ acconto versato. </a:t>
            </a:r>
          </a:p>
          <a:p>
            <a:pPr marL="0" indent="0" algn="just">
              <a:lnSpc>
                <a:spcPct val="115000"/>
              </a:lnSpc>
              <a:spcBef>
                <a:spcPts val="0"/>
              </a:spcBef>
              <a:buNone/>
            </a:pPr>
            <a:r>
              <a:rPr lang="it-IT" sz="5600" kern="100" dirty="0">
                <a:effectLst/>
                <a:latin typeface="Aptos" panose="020B0004020202020204" pitchFamily="34" charset="0"/>
                <a:ea typeface="Aptos" panose="020B0004020202020204" pitchFamily="34" charset="0"/>
                <a:cs typeface="Times New Roman" panose="02020603050405020304" pitchFamily="18" charset="0"/>
              </a:rPr>
              <a:t>Da ogni prenotazione deriva esattamente un soggiorno, a sua volta identificato da un ID univoco. Il soggiorno riporta la data di check</a:t>
            </a:r>
            <a:r>
              <a:rPr lang="it-IT" sz="5600" kern="100" dirty="0">
                <a:effectLst/>
                <a:latin typeface="Cambria Math" panose="02040503050406030204" pitchFamily="18" charset="0"/>
                <a:ea typeface="Aptos" panose="020B0004020202020204" pitchFamily="34" charset="0"/>
                <a:cs typeface="Cambria Math" panose="02040503050406030204" pitchFamily="18" charset="0"/>
              </a:rPr>
              <a:t>‐</a:t>
            </a:r>
            <a:r>
              <a:rPr lang="it-IT" sz="5600" kern="100" dirty="0">
                <a:effectLst/>
                <a:latin typeface="Aptos" panose="020B0004020202020204" pitchFamily="34" charset="0"/>
                <a:ea typeface="Aptos" panose="020B0004020202020204" pitchFamily="34" charset="0"/>
                <a:cs typeface="Times New Roman" panose="02020603050405020304" pitchFamily="18" charset="0"/>
              </a:rPr>
              <a:t>in, la data di check</a:t>
            </a:r>
            <a:r>
              <a:rPr lang="it-IT" sz="5600" kern="100" dirty="0">
                <a:effectLst/>
                <a:latin typeface="Cambria Math" panose="02040503050406030204" pitchFamily="18" charset="0"/>
                <a:ea typeface="Aptos" panose="020B0004020202020204" pitchFamily="34" charset="0"/>
                <a:cs typeface="Cambria Math" panose="02040503050406030204" pitchFamily="18" charset="0"/>
              </a:rPr>
              <a:t>‐</a:t>
            </a:r>
            <a:r>
              <a:rPr lang="it-IT" sz="5600" kern="100" dirty="0">
                <a:effectLst/>
                <a:latin typeface="Aptos" panose="020B0004020202020204" pitchFamily="34" charset="0"/>
                <a:ea typeface="Aptos" panose="020B0004020202020204" pitchFamily="34" charset="0"/>
                <a:cs typeface="Times New Roman" panose="02020603050405020304" pitchFamily="18" charset="0"/>
              </a:rPr>
              <a:t>out, il numero di ospiti, lo stato del soggiorno e la tassa di soggiorno; mentre il costo totale </a:t>
            </a:r>
            <a:r>
              <a:rPr lang="it-IT" sz="5600" kern="100" dirty="0">
                <a:effectLst/>
                <a:latin typeface="Aptos" panose="020B0004020202020204" pitchFamily="34" charset="0"/>
                <a:ea typeface="Aptos" panose="020B0004020202020204" pitchFamily="34" charset="0"/>
                <a:cs typeface="Aptos" panose="020B0004020202020204" pitchFamily="34" charset="0"/>
              </a:rPr>
              <a:t>è</a:t>
            </a:r>
            <a:r>
              <a:rPr lang="it-IT" sz="5600" kern="100" dirty="0">
                <a:effectLst/>
                <a:latin typeface="Aptos" panose="020B0004020202020204" pitchFamily="34" charset="0"/>
                <a:ea typeface="Aptos" panose="020B0004020202020204" pitchFamily="34" charset="0"/>
                <a:cs typeface="Times New Roman" panose="02020603050405020304" pitchFamily="18" charset="0"/>
              </a:rPr>
              <a:t> calcolabile dalla combinazione di questi dati e delle camere utilizzate. </a:t>
            </a:r>
          </a:p>
          <a:p>
            <a:pPr marL="0" indent="0" algn="just">
              <a:lnSpc>
                <a:spcPct val="115000"/>
              </a:lnSpc>
              <a:spcBef>
                <a:spcPts val="0"/>
              </a:spcBef>
              <a:buNone/>
            </a:pPr>
            <a:r>
              <a:rPr lang="it-IT" sz="5600" kern="100" dirty="0">
                <a:effectLst/>
                <a:latin typeface="Aptos" panose="020B0004020202020204" pitchFamily="34" charset="0"/>
                <a:ea typeface="Aptos" panose="020B0004020202020204" pitchFamily="34" charset="0"/>
                <a:cs typeface="Times New Roman" panose="02020603050405020304" pitchFamily="18" charset="0"/>
              </a:rPr>
              <a:t>Un soggiorno può prevedere l’assegnazione di una o più camere. Ogni camera è univocamente individuata da un codice, ha una capacità (numero di posti letto), uno stato (disponibile, occupata, da sistemare), un piano e un prezzo per notte. L’hotel distingue tre tipologie di camera: camera Singola; camera Doppia, per cui si annota il tipo di letto; e camera Deluxe, per cui si tiene traccia della presenza o meno di balcone </a:t>
            </a:r>
            <a:r>
              <a:rPr lang="it-IT" sz="5600" kern="100" dirty="0">
                <a:latin typeface="Aptos" panose="020B0004020202020204" pitchFamily="34" charset="0"/>
                <a:ea typeface="Aptos" panose="020B0004020202020204" pitchFamily="34" charset="0"/>
                <a:cs typeface="Times New Roman" panose="02020603050405020304" pitchFamily="18" charset="0"/>
              </a:rPr>
              <a:t>e del tipo di vista</a:t>
            </a:r>
            <a:r>
              <a:rPr lang="it-IT" sz="5600" kern="100" dirty="0">
                <a:effectLst/>
                <a:latin typeface="Aptos" panose="020B0004020202020204" pitchFamily="34" charset="0"/>
                <a:ea typeface="Aptos" panose="020B0004020202020204" pitchFamily="34" charset="0"/>
                <a:cs typeface="Times New Roman" panose="02020603050405020304" pitchFamily="18" charset="0"/>
              </a:rPr>
              <a:t>. L’hotel offre vari servizi, ciascuno identificato da un codice, cui sono associati un nome, un prezzo, una descrizione e una categoria (ad es. ristorazione, benessere ecc.). Una camera può disporre di uno o più servizi, e ciascun servizio può essere fornito a una o più camere. </a:t>
            </a:r>
          </a:p>
          <a:p>
            <a:pPr marL="0" indent="0" algn="just">
              <a:lnSpc>
                <a:spcPct val="115000"/>
              </a:lnSpc>
              <a:spcBef>
                <a:spcPts val="0"/>
              </a:spcBef>
              <a:buNone/>
            </a:pPr>
            <a:r>
              <a:rPr lang="it-IT" sz="5600" kern="100" dirty="0">
                <a:effectLst/>
                <a:latin typeface="Aptos" panose="020B0004020202020204" pitchFamily="34" charset="0"/>
                <a:ea typeface="Aptos" panose="020B0004020202020204" pitchFamily="34" charset="0"/>
                <a:cs typeface="Times New Roman" panose="02020603050405020304" pitchFamily="18" charset="0"/>
              </a:rPr>
              <a:t>Al termine del soggiorno, il cliente può pubblicare una o più recensioni, in cui specifica la data di recensione, una valutazione (punteggio numerico) e un commento. Ogni recensione è associata a uno e un solo soggiorno, ma un soggiorno può ricevere più recensioni. </a:t>
            </a:r>
          </a:p>
          <a:p>
            <a:pPr marL="0" indent="0" algn="just">
              <a:buNone/>
            </a:pPr>
            <a:endParaRPr lang="it-IT" sz="1600" dirty="0">
              <a:solidFill>
                <a:schemeClr val="tx1">
                  <a:lumMod val="95000"/>
                </a:schemeClr>
              </a:solidFill>
              <a:latin typeface="Times New Roman" panose="02020603050405020304" pitchFamily="18" charset="0"/>
              <a:cs typeface="Times New Roman" panose="02020603050405020304" pitchFamily="18" charset="0"/>
            </a:endParaRPr>
          </a:p>
        </p:txBody>
      </p:sp>
      <p:cxnSp>
        <p:nvCxnSpPr>
          <p:cNvPr id="7" name="Connettore diritto 6">
            <a:extLst>
              <a:ext uri="{FF2B5EF4-FFF2-40B4-BE49-F238E27FC236}">
                <a16:creationId xmlns:a16="http://schemas.microsoft.com/office/drawing/2014/main" id="{C16300CD-3575-1FED-4C79-E3596C20157A}"/>
              </a:ext>
            </a:extLst>
          </p:cNvPr>
          <p:cNvCxnSpPr>
            <a:cxnSpLocks/>
          </p:cNvCxnSpPr>
          <p:nvPr/>
        </p:nvCxnSpPr>
        <p:spPr>
          <a:xfrm>
            <a:off x="4469010" y="786384"/>
            <a:ext cx="0" cy="5444474"/>
          </a:xfrm>
          <a:prstGeom prst="line">
            <a:avLst/>
          </a:prstGeom>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24232762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463B9A0-C42E-402C-9AD1-9DAE533613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2"/>
          </a:solidFill>
          <a:ln w="6350" cap="flat" cmpd="sng" algn="ctr">
            <a:noFill/>
            <a:prstDash val="solid"/>
          </a:ln>
          <a:effectLst>
            <a:softEdge rad="0"/>
          </a:effectLst>
        </p:spPr>
        <p:txBody>
          <a:bodyPr/>
          <a:lstStyle/>
          <a:p>
            <a:endParaRPr lang="it-IT"/>
          </a:p>
        </p:txBody>
      </p:sp>
      <p:sp>
        <p:nvSpPr>
          <p:cNvPr id="11" name="Rectangle 10">
            <a:extLst>
              <a:ext uri="{FF2B5EF4-FFF2-40B4-BE49-F238E27FC236}">
                <a16:creationId xmlns:a16="http://schemas.microsoft.com/office/drawing/2014/main" id="{A069235B-22DB-4231-8291-D64DA2CDEB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AAE40DA-1F5A-4A1A-89CA-2BC620DCD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txBody>
          <a:bodyPr rtlCol="0" anchor="ctr"/>
          <a:lstStyle/>
          <a:p>
            <a:pPr algn="ctr"/>
            <a:endParaRPr lang="en-US"/>
          </a:p>
        </p:txBody>
      </p:sp>
      <p:pic>
        <p:nvPicPr>
          <p:cNvPr id="12" name="Immagine 11" descr="Immagine che contiene diagramma, Piano, Disegno tecnico, testo">
            <a:extLst>
              <a:ext uri="{FF2B5EF4-FFF2-40B4-BE49-F238E27FC236}">
                <a16:creationId xmlns:a16="http://schemas.microsoft.com/office/drawing/2014/main" id="{DE3A4ABD-1BBF-A182-0E43-94266F6204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29840" y="541020"/>
            <a:ext cx="9121140" cy="5775960"/>
          </a:xfrm>
          <a:prstGeom prst="rect">
            <a:avLst/>
          </a:prstGeom>
        </p:spPr>
      </p:pic>
      <p:sp>
        <p:nvSpPr>
          <p:cNvPr id="8" name="Rettangolo con angoli arrotondati 7">
            <a:extLst>
              <a:ext uri="{FF2B5EF4-FFF2-40B4-BE49-F238E27FC236}">
                <a16:creationId xmlns:a16="http://schemas.microsoft.com/office/drawing/2014/main" id="{90F61F29-BA8E-4D6E-7446-702A495D9057}"/>
              </a:ext>
            </a:extLst>
          </p:cNvPr>
          <p:cNvSpPr/>
          <p:nvPr/>
        </p:nvSpPr>
        <p:spPr>
          <a:xfrm>
            <a:off x="135315" y="137160"/>
            <a:ext cx="2723388" cy="1005840"/>
          </a:xfrm>
          <a:prstGeom prst="roundRect">
            <a:avLst/>
          </a:prstGeom>
          <a:solidFill>
            <a:schemeClr val="accent1">
              <a:lumMod val="50000"/>
            </a:schemeClr>
          </a:solidFill>
          <a:ln w="12700">
            <a:solidFill>
              <a:srgbClr val="D7D0BE"/>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2400" b="1" dirty="0">
                <a:ln w="6600">
                  <a:solidFill>
                    <a:schemeClr val="accent2"/>
                  </a:solidFill>
                  <a:prstDash val="solid"/>
                </a:ln>
                <a:solidFill>
                  <a:srgbClr val="FFFFFF"/>
                </a:solidFill>
                <a:effectLst>
                  <a:outerShdw dist="38100" dir="2700000" algn="tl" rotWithShape="0">
                    <a:schemeClr val="accent2"/>
                  </a:outerShdw>
                </a:effectLst>
              </a:rPr>
              <a:t>Schema </a:t>
            </a:r>
          </a:p>
          <a:p>
            <a:pPr algn="ctr"/>
            <a:r>
              <a:rPr lang="it-IT" sz="2400" b="1" dirty="0">
                <a:ln w="6600">
                  <a:solidFill>
                    <a:schemeClr val="accent2"/>
                  </a:solidFill>
                  <a:prstDash val="solid"/>
                </a:ln>
                <a:solidFill>
                  <a:srgbClr val="FFFFFF"/>
                </a:solidFill>
                <a:effectLst>
                  <a:outerShdw dist="38100" dir="2700000" algn="tl" rotWithShape="0">
                    <a:schemeClr val="accent2"/>
                  </a:outerShdw>
                </a:effectLst>
              </a:rPr>
              <a:t>Entità-Relazione</a:t>
            </a:r>
          </a:p>
        </p:txBody>
      </p:sp>
    </p:spTree>
    <p:extLst>
      <p:ext uri="{BB962C8B-B14F-4D97-AF65-F5344CB8AC3E}">
        <p14:creationId xmlns:p14="http://schemas.microsoft.com/office/powerpoint/2010/main" val="17349785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83242F9-94A3-6287-CBB0-483F8880644C}"/>
              </a:ext>
            </a:extLst>
          </p:cNvPr>
          <p:cNvSpPr>
            <a:spLocks noGrp="1"/>
          </p:cNvSpPr>
          <p:nvPr>
            <p:ph type="title"/>
          </p:nvPr>
        </p:nvSpPr>
        <p:spPr>
          <a:xfrm>
            <a:off x="3960114" y="425196"/>
            <a:ext cx="4271772" cy="736092"/>
          </a:xfrm>
        </p:spPr>
        <p:txBody>
          <a:bodyPr>
            <a:normAutofit fontScale="90000"/>
          </a:bodyPr>
          <a:lstStyle/>
          <a:p>
            <a:pPr algn="ctr"/>
            <a:r>
              <a:rPr lang="it-IT" dirty="0"/>
              <a:t>Ristrutturazione</a:t>
            </a:r>
          </a:p>
        </p:txBody>
      </p:sp>
      <p:sp>
        <p:nvSpPr>
          <p:cNvPr id="3" name="Segnaposto contenuto 2">
            <a:extLst>
              <a:ext uri="{FF2B5EF4-FFF2-40B4-BE49-F238E27FC236}">
                <a16:creationId xmlns:a16="http://schemas.microsoft.com/office/drawing/2014/main" id="{B472C00A-4A28-E9F1-0DCF-0EC9107DDE46}"/>
              </a:ext>
            </a:extLst>
          </p:cNvPr>
          <p:cNvSpPr>
            <a:spLocks noGrp="1"/>
          </p:cNvSpPr>
          <p:nvPr>
            <p:ph idx="1"/>
          </p:nvPr>
        </p:nvSpPr>
        <p:spPr>
          <a:xfrm>
            <a:off x="1409700" y="1421892"/>
            <a:ext cx="9096756" cy="4732020"/>
          </a:xfrm>
        </p:spPr>
        <p:txBody>
          <a:bodyPr>
            <a:normAutofit fontScale="92500" lnSpcReduction="10000"/>
          </a:bodyPr>
          <a:lstStyle/>
          <a:p>
            <a:pPr marL="0" indent="0" algn="just">
              <a:lnSpc>
                <a:spcPct val="110000"/>
              </a:lnSpc>
              <a:buNone/>
            </a:pPr>
            <a:r>
              <a:rPr lang="it-IT" sz="1800" dirty="0">
                <a:latin typeface="Aptos" panose="020B0004020202020204" pitchFamily="34" charset="0"/>
              </a:rPr>
              <a:t>Prima di passare allo schema logico, ho ristrutturato lo schema concettuale al fine di eliminare elementi non necessari o non rappresentabili, applicando i seguenti passaggi:</a:t>
            </a:r>
          </a:p>
          <a:p>
            <a:pPr algn="just">
              <a:lnSpc>
                <a:spcPct val="110000"/>
              </a:lnSpc>
              <a:buFont typeface="Wingdings" panose="05000000000000000000" pitchFamily="2" charset="2"/>
              <a:buChar char="§"/>
            </a:pPr>
            <a:r>
              <a:rPr lang="it-IT" sz="1800" dirty="0">
                <a:latin typeface="Aptos" panose="020B0004020202020204" pitchFamily="34" charset="0"/>
              </a:rPr>
              <a:t>Eliminazione della generalizzazione: i sistemi tradizionali che gestiscono basi di dati non    consentono di rappresentare direttamente una generalizzazione, quindi, ho scelto di accorpare le entità figlie nel genitore insieme ai propri attributi, che diventano opzionali. All’entità genitor</a:t>
            </a:r>
            <a:r>
              <a:rPr lang="it-IT" dirty="0">
                <a:latin typeface="Aptos" panose="020B0004020202020204" pitchFamily="34" charset="0"/>
              </a:rPr>
              <a:t>e ho poi aggiunto un attributo, «TipoCamera» che serve a distinguere il tipo di un’occorrenza dell’entità «Camera», ovvero a differenziare a quale delle entità si faceva riferimento.</a:t>
            </a:r>
          </a:p>
          <a:p>
            <a:pPr algn="just">
              <a:lnSpc>
                <a:spcPct val="110000"/>
              </a:lnSpc>
              <a:buFont typeface="Wingdings" panose="05000000000000000000" pitchFamily="2" charset="2"/>
              <a:buChar char="§"/>
            </a:pPr>
            <a:r>
              <a:rPr lang="it-IT" dirty="0">
                <a:latin typeface="Aptos" panose="020B0004020202020204" pitchFamily="34" charset="0"/>
              </a:rPr>
              <a:t>Rimozione dell’attributo multivalore: dal momento in cui, così come per la generalizzazione, non è possibile rappresentare in maniera diretta questo tipo di concetto in un modello relazionale, ho rimosso l’attributo multivalore «Telefono», trasformandolo in un’entità avente come solo attributo «Numero», che la identifica, legata mediante un’associazione uno a molti con l’entità Utente;</a:t>
            </a:r>
          </a:p>
          <a:p>
            <a:pPr algn="just">
              <a:lnSpc>
                <a:spcPct val="110000"/>
              </a:lnSpc>
              <a:buFont typeface="Wingdings" panose="05000000000000000000" pitchFamily="2" charset="2"/>
              <a:buChar char="§"/>
            </a:pPr>
            <a:r>
              <a:rPr lang="it-IT" sz="1800" dirty="0">
                <a:latin typeface="Aptos" panose="020B0004020202020204" pitchFamily="34" charset="0"/>
              </a:rPr>
              <a:t>Partizionamento dell’attributo composto: ho scomposto l’attributo «Indirizzo» nei suoi singoli elementi (via, civico, CAP, città, provincia) per garantire una migliore chiarezza semantica e memorizzazione dei dati.  </a:t>
            </a:r>
          </a:p>
          <a:p>
            <a:pPr marL="0" indent="0">
              <a:buNone/>
            </a:pPr>
            <a:endParaRPr lang="it-IT" dirty="0"/>
          </a:p>
        </p:txBody>
      </p:sp>
    </p:spTree>
    <p:extLst>
      <p:ext uri="{BB962C8B-B14F-4D97-AF65-F5344CB8AC3E}">
        <p14:creationId xmlns:p14="http://schemas.microsoft.com/office/powerpoint/2010/main" val="2341355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1463B9A0-C42E-402C-9AD1-9DAE533613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2"/>
          </a:solidFill>
          <a:ln w="6350" cap="flat" cmpd="sng" algn="ctr">
            <a:noFill/>
            <a:prstDash val="solid"/>
          </a:ln>
          <a:effectLst>
            <a:softEdge rad="0"/>
          </a:effectLst>
        </p:spPr>
        <p:txBody>
          <a:bodyPr/>
          <a:lstStyle/>
          <a:p>
            <a:endParaRPr lang="it-IT"/>
          </a:p>
        </p:txBody>
      </p:sp>
      <p:sp>
        <p:nvSpPr>
          <p:cNvPr id="21" name="Rectangle 20">
            <a:extLst>
              <a:ext uri="{FF2B5EF4-FFF2-40B4-BE49-F238E27FC236}">
                <a16:creationId xmlns:a16="http://schemas.microsoft.com/office/drawing/2014/main" id="{F2155CD3-83BB-4AEA-A737-FFB45BF5B9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9481AC0-C94A-42B2-A337-8F2BD27B4C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1044" y="374904"/>
            <a:ext cx="11409913"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a:lstStyle/>
          <a:p>
            <a:endParaRPr lang="it-IT"/>
          </a:p>
        </p:txBody>
      </p:sp>
      <p:sp>
        <p:nvSpPr>
          <p:cNvPr id="25" name="Rectangle 24">
            <a:extLst>
              <a:ext uri="{FF2B5EF4-FFF2-40B4-BE49-F238E27FC236}">
                <a16:creationId xmlns:a16="http://schemas.microsoft.com/office/drawing/2014/main" id="{9C990ECF-0B2F-4372-9715-326BA840E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736" y="539496"/>
            <a:ext cx="11082528" cy="577900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magine 2" descr="Immagine che contiene diagramma, Piano, Disegno tecnico, schematico">
            <a:extLst>
              <a:ext uri="{FF2B5EF4-FFF2-40B4-BE49-F238E27FC236}">
                <a16:creationId xmlns:a16="http://schemas.microsoft.com/office/drawing/2014/main" id="{2D3E417B-E01F-0B50-5290-5AAA2F869C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792" y="591312"/>
            <a:ext cx="10016711" cy="5681472"/>
          </a:xfrm>
          <a:prstGeom prst="rect">
            <a:avLst/>
          </a:prstGeom>
        </p:spPr>
      </p:pic>
      <p:sp>
        <p:nvSpPr>
          <p:cNvPr id="4" name="Rettangolo con un angolo ritagliato 3">
            <a:extLst>
              <a:ext uri="{FF2B5EF4-FFF2-40B4-BE49-F238E27FC236}">
                <a16:creationId xmlns:a16="http://schemas.microsoft.com/office/drawing/2014/main" id="{81A31469-E7DA-CBBA-21D9-83D7E03FA282}"/>
              </a:ext>
            </a:extLst>
          </p:cNvPr>
          <p:cNvSpPr>
            <a:spLocks/>
          </p:cNvSpPr>
          <p:nvPr/>
        </p:nvSpPr>
        <p:spPr>
          <a:xfrm rot="10800000">
            <a:off x="10021824" y="283900"/>
            <a:ext cx="1935480" cy="1353312"/>
          </a:xfrm>
          <a:prstGeom prst="snip1Rect">
            <a:avLst/>
          </a:prstGeom>
          <a:gradFill flip="none" rotWithShape="1">
            <a:gsLst>
              <a:gs pos="0">
                <a:schemeClr val="accent4">
                  <a:lumMod val="20000"/>
                  <a:lumOff val="80000"/>
                  <a:shade val="30000"/>
                  <a:satMod val="115000"/>
                </a:schemeClr>
              </a:gs>
              <a:gs pos="50000">
                <a:schemeClr val="accent4">
                  <a:lumMod val="20000"/>
                  <a:lumOff val="80000"/>
                  <a:shade val="67500"/>
                  <a:satMod val="115000"/>
                </a:schemeClr>
              </a:gs>
              <a:gs pos="100000">
                <a:schemeClr val="accent4">
                  <a:lumMod val="20000"/>
                  <a:lumOff val="80000"/>
                  <a:shade val="100000"/>
                  <a:satMod val="11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5" name="CasellaDiTesto 4">
            <a:extLst>
              <a:ext uri="{FF2B5EF4-FFF2-40B4-BE49-F238E27FC236}">
                <a16:creationId xmlns:a16="http://schemas.microsoft.com/office/drawing/2014/main" id="{70552327-CBCE-7CF4-48D5-9481425D6483}"/>
              </a:ext>
            </a:extLst>
          </p:cNvPr>
          <p:cNvSpPr txBox="1">
            <a:spLocks noGrp="1" noRot="1" noMove="1" noResize="1" noEditPoints="1" noAdjustHandles="1" noChangeArrowheads="1" noChangeShapeType="1"/>
          </p:cNvSpPr>
          <p:nvPr/>
        </p:nvSpPr>
        <p:spPr>
          <a:xfrm>
            <a:off x="10040642" y="283900"/>
            <a:ext cx="1935479" cy="1200329"/>
          </a:xfrm>
          <a:prstGeom prst="rect">
            <a:avLst/>
          </a:prstGeom>
          <a:noFill/>
        </p:spPr>
        <p:txBody>
          <a:bodyPr wrap="square" rtlCol="0">
            <a:spAutoFit/>
          </a:bodyPr>
          <a:lstStyle/>
          <a:p>
            <a:pPr algn="ctr"/>
            <a:r>
              <a:rPr lang="it-IT" sz="2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Schema </a:t>
            </a:r>
          </a:p>
          <a:p>
            <a:pPr algn="ctr"/>
            <a:r>
              <a:rPr lang="it-IT" sz="2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E-R</a:t>
            </a:r>
          </a:p>
          <a:p>
            <a:pPr algn="ctr"/>
            <a:r>
              <a:rPr lang="it-IT" sz="2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Ristrutturato</a:t>
            </a:r>
          </a:p>
        </p:txBody>
      </p:sp>
    </p:spTree>
    <p:extLst>
      <p:ext uri="{BB962C8B-B14F-4D97-AF65-F5344CB8AC3E}">
        <p14:creationId xmlns:p14="http://schemas.microsoft.com/office/powerpoint/2010/main" val="31225806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6E29C0B-9472-D0F7-F678-60FA0A9752E1}"/>
              </a:ext>
            </a:extLst>
          </p:cNvPr>
          <p:cNvSpPr>
            <a:spLocks noGrp="1"/>
          </p:cNvSpPr>
          <p:nvPr>
            <p:ph type="title"/>
          </p:nvPr>
        </p:nvSpPr>
        <p:spPr>
          <a:xfrm>
            <a:off x="3952568" y="583738"/>
            <a:ext cx="4286862" cy="694944"/>
          </a:xfrm>
        </p:spPr>
        <p:txBody>
          <a:bodyPr>
            <a:normAutofit fontScale="90000"/>
          </a:bodyPr>
          <a:lstStyle/>
          <a:p>
            <a:pPr algn="ctr"/>
            <a:r>
              <a:rPr lang="it-IT" dirty="0"/>
              <a:t>Schema logico</a:t>
            </a:r>
          </a:p>
        </p:txBody>
      </p:sp>
      <p:sp>
        <p:nvSpPr>
          <p:cNvPr id="3" name="Segnaposto contenuto 2">
            <a:extLst>
              <a:ext uri="{FF2B5EF4-FFF2-40B4-BE49-F238E27FC236}">
                <a16:creationId xmlns:a16="http://schemas.microsoft.com/office/drawing/2014/main" id="{1BECB53C-FF5D-367A-8D84-7AE200F9BC4C}"/>
              </a:ext>
            </a:extLst>
          </p:cNvPr>
          <p:cNvSpPr>
            <a:spLocks noGrp="1"/>
          </p:cNvSpPr>
          <p:nvPr>
            <p:ph idx="1"/>
          </p:nvPr>
        </p:nvSpPr>
        <p:spPr>
          <a:xfrm>
            <a:off x="1128762" y="1597106"/>
            <a:ext cx="9934475" cy="4575094"/>
          </a:xfrm>
        </p:spPr>
        <p:txBody>
          <a:bodyPr>
            <a:normAutofit/>
          </a:bodyPr>
          <a:lstStyle/>
          <a:p>
            <a:pPr marL="0" indent="0">
              <a:buNone/>
            </a:pPr>
            <a:r>
              <a:rPr lang="it-IT" sz="1600" b="1" dirty="0"/>
              <a:t>Mapping:</a:t>
            </a:r>
          </a:p>
          <a:p>
            <a:pPr marL="0" indent="0">
              <a:spcBef>
                <a:spcPts val="300"/>
              </a:spcBef>
              <a:spcAft>
                <a:spcPts val="300"/>
              </a:spcAft>
              <a:buNone/>
            </a:pPr>
            <a:endParaRPr lang="it-IT" sz="1600" b="1" dirty="0"/>
          </a:p>
          <a:p>
            <a:pPr marL="0" indent="0">
              <a:spcBef>
                <a:spcPts val="300"/>
              </a:spcBef>
              <a:buNone/>
            </a:pPr>
            <a:r>
              <a:rPr lang="it-IT" sz="1600" dirty="0"/>
              <a:t>Utente (</a:t>
            </a:r>
            <a:r>
              <a:rPr lang="it-IT" sz="1600" u="sng" dirty="0"/>
              <a:t>NomeUtente</a:t>
            </a:r>
            <a:r>
              <a:rPr lang="it-IT" sz="1600" dirty="0"/>
              <a:t>, Email,  Nome, Cognome, DataDiNascita, Via, Civico, Cap, Città, Provincia)</a:t>
            </a:r>
          </a:p>
          <a:p>
            <a:pPr marL="0" indent="0">
              <a:buNone/>
            </a:pPr>
            <a:r>
              <a:rPr lang="it-IT" sz="1600" dirty="0"/>
              <a:t>Telefono (</a:t>
            </a:r>
            <a:r>
              <a:rPr lang="it-IT" sz="1600" u="sng" dirty="0"/>
              <a:t>Numero</a:t>
            </a:r>
            <a:r>
              <a:rPr lang="it-IT" sz="1600" dirty="0"/>
              <a:t>, </a:t>
            </a:r>
            <a:r>
              <a:rPr lang="it-IT" sz="1600" i="1" dirty="0"/>
              <a:t>Utente</a:t>
            </a:r>
            <a:r>
              <a:rPr lang="it-IT" sz="1600" dirty="0"/>
              <a:t>)</a:t>
            </a:r>
          </a:p>
          <a:p>
            <a:pPr marL="0" indent="0">
              <a:buNone/>
            </a:pPr>
            <a:r>
              <a:rPr lang="it-IT" sz="1600" dirty="0"/>
              <a:t>Prenotazione (</a:t>
            </a:r>
            <a:r>
              <a:rPr lang="it-IT" sz="1600" u="sng" dirty="0"/>
              <a:t>IDPrenotazione</a:t>
            </a:r>
            <a:r>
              <a:rPr lang="it-IT" sz="1600" dirty="0"/>
              <a:t>, StatoPrenotazione, MetodoPagamento, DataPrenotazione, 		         AccontoVersato*, </a:t>
            </a:r>
            <a:r>
              <a:rPr lang="it-IT" sz="1600" i="1" dirty="0"/>
              <a:t>Utente</a:t>
            </a:r>
            <a:r>
              <a:rPr lang="it-IT" sz="1600" dirty="0"/>
              <a:t>)</a:t>
            </a:r>
          </a:p>
          <a:p>
            <a:pPr marL="0" indent="0">
              <a:buNone/>
            </a:pPr>
            <a:r>
              <a:rPr lang="it-IT" sz="1600" dirty="0"/>
              <a:t>Soggiorno (</a:t>
            </a:r>
            <a:r>
              <a:rPr lang="it-IT" sz="1600" u="sng" dirty="0"/>
              <a:t>IDSoggiorno</a:t>
            </a:r>
            <a:r>
              <a:rPr lang="it-IT" sz="1600" dirty="0"/>
              <a:t>, NumeroOspiti, StatoSoggiorno, DataCheckIn, DataCheckOut, 	  	    TassaDiSoggiorno, </a:t>
            </a:r>
            <a:r>
              <a:rPr lang="it-IT" sz="1600" i="1" dirty="0"/>
              <a:t>Prenotazione</a:t>
            </a:r>
            <a:r>
              <a:rPr lang="it-IT" sz="1600" dirty="0"/>
              <a:t>)</a:t>
            </a:r>
          </a:p>
          <a:p>
            <a:pPr marL="0" indent="0">
              <a:buNone/>
            </a:pPr>
            <a:r>
              <a:rPr lang="it-IT" sz="1600" dirty="0"/>
              <a:t>Camera (</a:t>
            </a:r>
            <a:r>
              <a:rPr lang="it-IT" sz="1600" u="sng" dirty="0"/>
              <a:t>CodiceCamera</a:t>
            </a:r>
            <a:r>
              <a:rPr lang="it-IT" sz="1600" dirty="0"/>
              <a:t>, Capacità, Piano, PrezzoPerNotte, StatoCamera, TipoCamera, Vista*, 	 TipoLetto*, Balcone-Si-No*)</a:t>
            </a:r>
          </a:p>
          <a:p>
            <a:pPr marL="0" indent="0">
              <a:buNone/>
            </a:pPr>
            <a:r>
              <a:rPr lang="it-IT" sz="1600" dirty="0"/>
              <a:t>Assegnazione (</a:t>
            </a:r>
            <a:r>
              <a:rPr lang="it-IT" sz="1600" i="1" u="sng" dirty="0"/>
              <a:t>Soggiorno, Camera</a:t>
            </a:r>
            <a:r>
              <a:rPr lang="it-IT" sz="1600" dirty="0"/>
              <a:t>, InizioAssegnazione, FineAssegnazione)</a:t>
            </a:r>
          </a:p>
          <a:p>
            <a:pPr marL="0" indent="0">
              <a:buNone/>
            </a:pPr>
            <a:r>
              <a:rPr lang="it-IT" sz="1600" dirty="0"/>
              <a:t>Servizio (</a:t>
            </a:r>
            <a:r>
              <a:rPr lang="it-IT" sz="1600" u="sng" dirty="0"/>
              <a:t>CodiceServizio</a:t>
            </a:r>
            <a:r>
              <a:rPr lang="it-IT" sz="1600" dirty="0"/>
              <a:t>, Nome, Prezzo, Descrizione, Categoria)</a:t>
            </a:r>
          </a:p>
          <a:p>
            <a:pPr marL="0" indent="0">
              <a:buNone/>
            </a:pPr>
            <a:r>
              <a:rPr lang="it-IT" sz="1600" dirty="0"/>
              <a:t>Fornitura (</a:t>
            </a:r>
            <a:r>
              <a:rPr lang="it-IT" sz="1600" i="1" u="sng" dirty="0"/>
              <a:t>Servizio, Camera</a:t>
            </a:r>
            <a:r>
              <a:rPr lang="it-IT" sz="1600" dirty="0"/>
              <a:t>)</a:t>
            </a:r>
          </a:p>
          <a:p>
            <a:pPr marL="0" indent="0">
              <a:buNone/>
            </a:pPr>
            <a:r>
              <a:rPr lang="it-IT" sz="1600" dirty="0"/>
              <a:t>Recensione (</a:t>
            </a:r>
            <a:r>
              <a:rPr lang="it-IT" sz="1600" u="sng" dirty="0" err="1"/>
              <a:t>DataRecensione</a:t>
            </a:r>
            <a:r>
              <a:rPr lang="it-IT" sz="1600" u="sng" dirty="0"/>
              <a:t>, Utente</a:t>
            </a:r>
            <a:r>
              <a:rPr lang="it-IT" sz="1600" dirty="0"/>
              <a:t>, Valutazione, Descrizione, </a:t>
            </a:r>
            <a:r>
              <a:rPr lang="it-IT" sz="1600" i="1" dirty="0"/>
              <a:t>Soggiorno</a:t>
            </a:r>
            <a:r>
              <a:rPr lang="it-IT" sz="1600" dirty="0"/>
              <a:t>)</a:t>
            </a:r>
          </a:p>
          <a:p>
            <a:pPr marL="0" indent="0">
              <a:buNone/>
            </a:pPr>
            <a:endParaRPr lang="it-IT" sz="1600" dirty="0"/>
          </a:p>
          <a:p>
            <a:pPr marL="0" indent="0">
              <a:buNone/>
            </a:pPr>
            <a:endParaRPr lang="it-IT" sz="1600" dirty="0"/>
          </a:p>
          <a:p>
            <a:pPr marL="0" indent="0">
              <a:buNone/>
            </a:pPr>
            <a:endParaRPr lang="it-IT" u="sng" dirty="0"/>
          </a:p>
          <a:p>
            <a:pPr marL="0" indent="0">
              <a:buNone/>
            </a:pPr>
            <a:endParaRPr lang="it-IT" dirty="0"/>
          </a:p>
        </p:txBody>
      </p:sp>
    </p:spTree>
    <p:extLst>
      <p:ext uri="{BB962C8B-B14F-4D97-AF65-F5344CB8AC3E}">
        <p14:creationId xmlns:p14="http://schemas.microsoft.com/office/powerpoint/2010/main" val="17178902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84AA0-30BA-A76A-937A-B36B2D3E901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DDC2E56-EB42-5D9F-9E2A-39D6498F6B70}"/>
              </a:ext>
            </a:extLst>
          </p:cNvPr>
          <p:cNvSpPr>
            <a:spLocks noGrp="1"/>
          </p:cNvSpPr>
          <p:nvPr>
            <p:ph type="title"/>
          </p:nvPr>
        </p:nvSpPr>
        <p:spPr>
          <a:xfrm>
            <a:off x="3952568" y="556306"/>
            <a:ext cx="4286862" cy="694944"/>
          </a:xfrm>
        </p:spPr>
        <p:txBody>
          <a:bodyPr>
            <a:normAutofit fontScale="90000"/>
          </a:bodyPr>
          <a:lstStyle/>
          <a:p>
            <a:pPr algn="ctr"/>
            <a:r>
              <a:rPr lang="it-IT" dirty="0"/>
              <a:t>Schema logico</a:t>
            </a:r>
          </a:p>
        </p:txBody>
      </p:sp>
      <p:sp>
        <p:nvSpPr>
          <p:cNvPr id="3" name="Segnaposto contenuto 2">
            <a:extLst>
              <a:ext uri="{FF2B5EF4-FFF2-40B4-BE49-F238E27FC236}">
                <a16:creationId xmlns:a16="http://schemas.microsoft.com/office/drawing/2014/main" id="{4CCF6AEA-24B3-B522-911D-445C199B00B0}"/>
              </a:ext>
            </a:extLst>
          </p:cNvPr>
          <p:cNvSpPr>
            <a:spLocks noGrp="1"/>
          </p:cNvSpPr>
          <p:nvPr>
            <p:ph idx="1"/>
          </p:nvPr>
        </p:nvSpPr>
        <p:spPr>
          <a:xfrm>
            <a:off x="1128762" y="1633682"/>
            <a:ext cx="9934475" cy="4044742"/>
          </a:xfrm>
        </p:spPr>
        <p:txBody>
          <a:bodyPr>
            <a:normAutofit/>
          </a:bodyPr>
          <a:lstStyle/>
          <a:p>
            <a:pPr marL="0" indent="0">
              <a:buNone/>
            </a:pPr>
            <a:r>
              <a:rPr lang="it-IT" sz="1600" b="1" dirty="0"/>
              <a:t>Vincoli di integrità referenziale:</a:t>
            </a:r>
          </a:p>
          <a:p>
            <a:pPr marL="0" indent="0">
              <a:buNone/>
            </a:pPr>
            <a:endParaRPr lang="it-IT" sz="1100" b="1" dirty="0"/>
          </a:p>
          <a:p>
            <a:pPr marL="0" indent="0">
              <a:buNone/>
            </a:pPr>
            <a:r>
              <a:rPr lang="it-IT" sz="1600" dirty="0"/>
              <a:t>Telefono (Utente) V.I.R con Utente (NomeUtente)</a:t>
            </a:r>
          </a:p>
          <a:p>
            <a:pPr marL="0" indent="0">
              <a:buNone/>
            </a:pPr>
            <a:r>
              <a:rPr lang="it-IT" sz="1600" dirty="0"/>
              <a:t>Prenotazione (Utente) V.I.R con Utente (NomeUtente)</a:t>
            </a:r>
          </a:p>
          <a:p>
            <a:pPr marL="0" indent="0">
              <a:buNone/>
            </a:pPr>
            <a:r>
              <a:rPr lang="it-IT" sz="1600" dirty="0"/>
              <a:t>Soggiorno (Prenotazione) V.I.R con Prenotazione (IDPrenotazione)</a:t>
            </a:r>
          </a:p>
          <a:p>
            <a:pPr marL="0" indent="0">
              <a:buNone/>
            </a:pPr>
            <a:r>
              <a:rPr lang="it-IT" sz="1600" dirty="0"/>
              <a:t>Assegnazione (Soggiorno) V.I.R con Soggiorno (IDSoggiorno)</a:t>
            </a:r>
          </a:p>
          <a:p>
            <a:pPr marL="0" indent="0">
              <a:buNone/>
            </a:pPr>
            <a:r>
              <a:rPr lang="it-IT" sz="1600" dirty="0"/>
              <a:t>Assegnazione (Camera) V.I.R con Camera (CodiceCamera)</a:t>
            </a:r>
          </a:p>
          <a:p>
            <a:pPr marL="0" indent="0">
              <a:buNone/>
            </a:pPr>
            <a:r>
              <a:rPr lang="it-IT" sz="1600" dirty="0"/>
              <a:t>Fornitura (Servizio) V.I.R con Servizio (CodiceServizio)</a:t>
            </a:r>
          </a:p>
          <a:p>
            <a:pPr marL="0" indent="0">
              <a:buNone/>
            </a:pPr>
            <a:r>
              <a:rPr lang="it-IT" sz="1600" dirty="0"/>
              <a:t>Fornitura (Camera) V.I.R con Camera (CodiceCamera)</a:t>
            </a:r>
          </a:p>
          <a:p>
            <a:pPr marL="0" indent="0">
              <a:buNone/>
            </a:pPr>
            <a:r>
              <a:rPr lang="it-IT" sz="1600" dirty="0"/>
              <a:t>Recensione (Utente) V.I.R con Utente (NomeUtente)</a:t>
            </a:r>
          </a:p>
          <a:p>
            <a:pPr marL="0" indent="0">
              <a:buNone/>
            </a:pPr>
            <a:r>
              <a:rPr lang="it-IT" sz="1600" dirty="0"/>
              <a:t>Recensione (Soggiorno) V.I.R con Soggiorno (IDSoggiorno)</a:t>
            </a:r>
          </a:p>
          <a:p>
            <a:pPr marL="0" indent="0">
              <a:buNone/>
            </a:pPr>
            <a:endParaRPr lang="it-IT" u="sng" dirty="0"/>
          </a:p>
          <a:p>
            <a:pPr marL="0" indent="0">
              <a:buNone/>
            </a:pPr>
            <a:endParaRPr lang="it-IT" dirty="0"/>
          </a:p>
        </p:txBody>
      </p:sp>
    </p:spTree>
    <p:extLst>
      <p:ext uri="{BB962C8B-B14F-4D97-AF65-F5344CB8AC3E}">
        <p14:creationId xmlns:p14="http://schemas.microsoft.com/office/powerpoint/2010/main" val="3771569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pone">
  <a:themeElements>
    <a:clrScheme name="Sapone">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pon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pone">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Sapone</Template>
  <TotalTime>2198</TotalTime>
  <Words>856</Words>
  <Application>Microsoft Office PowerPoint</Application>
  <PresentationFormat>Widescreen</PresentationFormat>
  <Paragraphs>45</Paragraphs>
  <Slides>7</Slides>
  <Notes>0</Notes>
  <HiddenSlides>0</HiddenSlides>
  <MMClips>0</MMClips>
  <ScaleCrop>false</ScaleCrop>
  <HeadingPairs>
    <vt:vector size="6" baseType="variant">
      <vt:variant>
        <vt:lpstr>Caratteri utilizzati</vt:lpstr>
      </vt:variant>
      <vt:variant>
        <vt:i4>7</vt:i4>
      </vt:variant>
      <vt:variant>
        <vt:lpstr>Tema</vt:lpstr>
      </vt:variant>
      <vt:variant>
        <vt:i4>1</vt:i4>
      </vt:variant>
      <vt:variant>
        <vt:lpstr>Titoli diapositive</vt:lpstr>
      </vt:variant>
      <vt:variant>
        <vt:i4>7</vt:i4>
      </vt:variant>
    </vt:vector>
  </HeadingPairs>
  <TitlesOfParts>
    <vt:vector size="15" baseType="lpstr">
      <vt:lpstr>Aptos</vt:lpstr>
      <vt:lpstr>Bell MT</vt:lpstr>
      <vt:lpstr>Cambria Math</vt:lpstr>
      <vt:lpstr>Century Gothic</vt:lpstr>
      <vt:lpstr>Garamond</vt:lpstr>
      <vt:lpstr>Times New Roman</vt:lpstr>
      <vt:lpstr>Wingdings</vt:lpstr>
      <vt:lpstr>Sapone</vt:lpstr>
      <vt:lpstr>PROGETTO  BASI DI DATI</vt:lpstr>
      <vt:lpstr>Cosa si vuole realizzare?</vt:lpstr>
      <vt:lpstr>Presentazione standard di PowerPoint</vt:lpstr>
      <vt:lpstr>Ristrutturazione</vt:lpstr>
      <vt:lpstr>Presentazione standard di PowerPoint</vt:lpstr>
      <vt:lpstr>Schema logico</vt:lpstr>
      <vt:lpstr>Schema logico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MARIO BRANCA</dc:creator>
  <cp:lastModifiedBy>MARIO BRANCA</cp:lastModifiedBy>
  <cp:revision>26</cp:revision>
  <dcterms:created xsi:type="dcterms:W3CDTF">2024-12-17T11:48:03Z</dcterms:created>
  <dcterms:modified xsi:type="dcterms:W3CDTF">2025-02-24T11:58:33Z</dcterms:modified>
</cp:coreProperties>
</file>